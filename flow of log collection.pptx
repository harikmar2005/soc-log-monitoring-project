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7EB76C-D887-48A8-B6DA-A373D8764A89}" v="13" dt="2026-01-12T11:56:37.4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 KUMAR" userId="ab1248f8c6e089ea" providerId="LiveId" clId="{4B7B753E-125D-450C-A87E-5D2EB0374D18}"/>
    <pc:docChg chg="undo custSel addSld delSld modSld">
      <pc:chgData name="HARI KUMAR" userId="ab1248f8c6e089ea" providerId="LiveId" clId="{4B7B753E-125D-450C-A87E-5D2EB0374D18}" dt="2026-01-12T12:05:19.730" v="156" actId="2696"/>
      <pc:docMkLst>
        <pc:docMk/>
      </pc:docMkLst>
      <pc:sldChg chg="addSp modSp mod">
        <pc:chgData name="HARI KUMAR" userId="ab1248f8c6e089ea" providerId="LiveId" clId="{4B7B753E-125D-450C-A87E-5D2EB0374D18}" dt="2026-01-09T11:50:28.114" v="17" actId="1076"/>
        <pc:sldMkLst>
          <pc:docMk/>
          <pc:sldMk cId="3450445778" sldId="261"/>
        </pc:sldMkLst>
        <pc:spChg chg="add mod">
          <ac:chgData name="HARI KUMAR" userId="ab1248f8c6e089ea" providerId="LiveId" clId="{4B7B753E-125D-450C-A87E-5D2EB0374D18}" dt="2026-01-09T11:50:28.114" v="17" actId="1076"/>
          <ac:spMkLst>
            <pc:docMk/>
            <pc:sldMk cId="3450445778" sldId="261"/>
            <ac:spMk id="2" creationId="{98890A89-4265-66DB-F310-E89F2FE7FDE3}"/>
          </ac:spMkLst>
        </pc:spChg>
        <pc:spChg chg="add mod">
          <ac:chgData name="HARI KUMAR" userId="ab1248f8c6e089ea" providerId="LiveId" clId="{4B7B753E-125D-450C-A87E-5D2EB0374D18}" dt="2026-01-09T11:50:18.911" v="16" actId="255"/>
          <ac:spMkLst>
            <pc:docMk/>
            <pc:sldMk cId="3450445778" sldId="261"/>
            <ac:spMk id="3" creationId="{EB75D19D-E102-9923-F86C-4F0CE875154A}"/>
          </ac:spMkLst>
        </pc:spChg>
      </pc:sldChg>
      <pc:sldChg chg="addSp modSp mod">
        <pc:chgData name="HARI KUMAR" userId="ab1248f8c6e089ea" providerId="LiveId" clId="{4B7B753E-125D-450C-A87E-5D2EB0374D18}" dt="2026-01-09T11:51:35.712" v="25" actId="14100"/>
        <pc:sldMkLst>
          <pc:docMk/>
          <pc:sldMk cId="335667751" sldId="262"/>
        </pc:sldMkLst>
        <pc:spChg chg="add mod">
          <ac:chgData name="HARI KUMAR" userId="ab1248f8c6e089ea" providerId="LiveId" clId="{4B7B753E-125D-450C-A87E-5D2EB0374D18}" dt="2026-01-09T11:51:23.463" v="22" actId="1076"/>
          <ac:spMkLst>
            <pc:docMk/>
            <pc:sldMk cId="335667751" sldId="262"/>
            <ac:spMk id="2" creationId="{1935A2AA-9DA7-B0B8-FB73-5FAB4FE9E5FD}"/>
          </ac:spMkLst>
        </pc:spChg>
        <pc:graphicFrameChg chg="add mod modGraphic">
          <ac:chgData name="HARI KUMAR" userId="ab1248f8c6e089ea" providerId="LiveId" clId="{4B7B753E-125D-450C-A87E-5D2EB0374D18}" dt="2026-01-09T11:51:35.712" v="25" actId="14100"/>
          <ac:graphicFrameMkLst>
            <pc:docMk/>
            <pc:sldMk cId="335667751" sldId="262"/>
            <ac:graphicFrameMk id="3" creationId="{C2AE77FE-5BA0-4607-E692-91183A9A24F0}"/>
          </ac:graphicFrameMkLst>
        </pc:graphicFrameChg>
      </pc:sldChg>
      <pc:sldChg chg="addSp modSp mod">
        <pc:chgData name="HARI KUMAR" userId="ab1248f8c6e089ea" providerId="LiveId" clId="{4B7B753E-125D-450C-A87E-5D2EB0374D18}" dt="2026-01-09T12:01:52.720" v="36" actId="14100"/>
        <pc:sldMkLst>
          <pc:docMk/>
          <pc:sldMk cId="1463000484" sldId="263"/>
        </pc:sldMkLst>
        <pc:spChg chg="add mod">
          <ac:chgData name="HARI KUMAR" userId="ab1248f8c6e089ea" providerId="LiveId" clId="{4B7B753E-125D-450C-A87E-5D2EB0374D18}" dt="2026-01-09T11:52:19.571" v="31" actId="1076"/>
          <ac:spMkLst>
            <pc:docMk/>
            <pc:sldMk cId="1463000484" sldId="263"/>
            <ac:spMk id="3" creationId="{C6798593-0C5A-DADC-4ED6-E7679EBA9E40}"/>
          </ac:spMkLst>
        </pc:spChg>
        <pc:spChg chg="add mod">
          <ac:chgData name="HARI KUMAR" userId="ab1248f8c6e089ea" providerId="LiveId" clId="{4B7B753E-125D-450C-A87E-5D2EB0374D18}" dt="2026-01-09T11:52:11.953" v="30" actId="1076"/>
          <ac:spMkLst>
            <pc:docMk/>
            <pc:sldMk cId="1463000484" sldId="263"/>
            <ac:spMk id="4" creationId="{9421419A-25AD-8EDA-75C8-79367BC79E71}"/>
          </ac:spMkLst>
        </pc:spChg>
        <pc:spChg chg="add mod">
          <ac:chgData name="HARI KUMAR" userId="ab1248f8c6e089ea" providerId="LiveId" clId="{4B7B753E-125D-450C-A87E-5D2EB0374D18}" dt="2026-01-09T12:01:52.720" v="36" actId="14100"/>
          <ac:spMkLst>
            <pc:docMk/>
            <pc:sldMk cId="1463000484" sldId="263"/>
            <ac:spMk id="5" creationId="{B92C6089-3E17-72CF-8665-866F643331E7}"/>
          </ac:spMkLst>
        </pc:spChg>
        <pc:spChg chg="add mod">
          <ac:chgData name="HARI KUMAR" userId="ab1248f8c6e089ea" providerId="LiveId" clId="{4B7B753E-125D-450C-A87E-5D2EB0374D18}" dt="2026-01-09T11:52:25.924" v="32" actId="1076"/>
          <ac:spMkLst>
            <pc:docMk/>
            <pc:sldMk cId="1463000484" sldId="263"/>
            <ac:spMk id="6" creationId="{2AA40DE7-7F14-B199-CBAF-7598306E36FF}"/>
          </ac:spMkLst>
        </pc:spChg>
        <pc:graphicFrameChg chg="add mod">
          <ac:chgData name="HARI KUMAR" userId="ab1248f8c6e089ea" providerId="LiveId" clId="{4B7B753E-125D-450C-A87E-5D2EB0374D18}" dt="2026-01-09T11:52:11.953" v="30" actId="1076"/>
          <ac:graphicFrameMkLst>
            <pc:docMk/>
            <pc:sldMk cId="1463000484" sldId="263"/>
            <ac:graphicFrameMk id="7" creationId="{C2E99B18-AC28-065C-9D10-4E4FB2E529FF}"/>
          </ac:graphicFrameMkLst>
        </pc:graphicFrameChg>
        <pc:picChg chg="add mod">
          <ac:chgData name="HARI KUMAR" userId="ab1248f8c6e089ea" providerId="LiveId" clId="{4B7B753E-125D-450C-A87E-5D2EB0374D18}" dt="2026-01-09T11:52:11.953" v="30" actId="1076"/>
          <ac:picMkLst>
            <pc:docMk/>
            <pc:sldMk cId="1463000484" sldId="263"/>
            <ac:picMk id="2" creationId="{16B22544-63FF-F4B3-5084-2181C9869D32}"/>
          </ac:picMkLst>
        </pc:picChg>
      </pc:sldChg>
      <pc:sldChg chg="addSp modSp mod">
        <pc:chgData name="HARI KUMAR" userId="ab1248f8c6e089ea" providerId="LiveId" clId="{4B7B753E-125D-450C-A87E-5D2EB0374D18}" dt="2026-01-09T12:04:37.509" v="53" actId="1076"/>
        <pc:sldMkLst>
          <pc:docMk/>
          <pc:sldMk cId="97069583" sldId="264"/>
        </pc:sldMkLst>
        <pc:spChg chg="add mod">
          <ac:chgData name="HARI KUMAR" userId="ab1248f8c6e089ea" providerId="LiveId" clId="{4B7B753E-125D-450C-A87E-5D2EB0374D18}" dt="2026-01-09T12:04:30.995" v="51" actId="14100"/>
          <ac:spMkLst>
            <pc:docMk/>
            <pc:sldMk cId="97069583" sldId="264"/>
            <ac:spMk id="2" creationId="{B9B3AD64-D289-F8FD-67D3-299D92F07888}"/>
          </ac:spMkLst>
        </pc:spChg>
        <pc:spChg chg="add mod">
          <ac:chgData name="HARI KUMAR" userId="ab1248f8c6e089ea" providerId="LiveId" clId="{4B7B753E-125D-450C-A87E-5D2EB0374D18}" dt="2026-01-09T12:04:37.509" v="53" actId="1076"/>
          <ac:spMkLst>
            <pc:docMk/>
            <pc:sldMk cId="97069583" sldId="264"/>
            <ac:spMk id="3" creationId="{4960E494-4F8C-EACD-CA8E-DEAB09B1AB42}"/>
          </ac:spMkLst>
        </pc:spChg>
        <pc:spChg chg="add mod">
          <ac:chgData name="HARI KUMAR" userId="ab1248f8c6e089ea" providerId="LiveId" clId="{4B7B753E-125D-450C-A87E-5D2EB0374D18}" dt="2026-01-09T12:01:26.488" v="33"/>
          <ac:spMkLst>
            <pc:docMk/>
            <pc:sldMk cId="97069583" sldId="264"/>
            <ac:spMk id="5" creationId="{A157A250-F643-7A87-55A6-ECFB6A171302}"/>
          </ac:spMkLst>
        </pc:spChg>
        <pc:spChg chg="add mod">
          <ac:chgData name="HARI KUMAR" userId="ab1248f8c6e089ea" providerId="LiveId" clId="{4B7B753E-125D-450C-A87E-5D2EB0374D18}" dt="2026-01-09T12:01:26.488" v="33"/>
          <ac:spMkLst>
            <pc:docMk/>
            <pc:sldMk cId="97069583" sldId="264"/>
            <ac:spMk id="9" creationId="{CAAD85B5-52CE-F371-2ECE-56867A2E0A39}"/>
          </ac:spMkLst>
        </pc:spChg>
        <pc:spChg chg="add mod">
          <ac:chgData name="HARI KUMAR" userId="ab1248f8c6e089ea" providerId="LiveId" clId="{4B7B753E-125D-450C-A87E-5D2EB0374D18}" dt="2026-01-09T12:01:26.488" v="33"/>
          <ac:spMkLst>
            <pc:docMk/>
            <pc:sldMk cId="97069583" sldId="264"/>
            <ac:spMk id="11" creationId="{3F965AD6-AC27-ECE5-B9AA-0E76C8A70B45}"/>
          </ac:spMkLst>
        </pc:spChg>
        <pc:spChg chg="add mod">
          <ac:chgData name="HARI KUMAR" userId="ab1248f8c6e089ea" providerId="LiveId" clId="{4B7B753E-125D-450C-A87E-5D2EB0374D18}" dt="2026-01-09T12:01:26.488" v="33"/>
          <ac:spMkLst>
            <pc:docMk/>
            <pc:sldMk cId="97069583" sldId="264"/>
            <ac:spMk id="12" creationId="{83B01F01-E27B-6BCD-256D-09D6AA47FEB2}"/>
          </ac:spMkLst>
        </pc:spChg>
        <pc:spChg chg="add mod">
          <ac:chgData name="HARI KUMAR" userId="ab1248f8c6e089ea" providerId="LiveId" clId="{4B7B753E-125D-450C-A87E-5D2EB0374D18}" dt="2026-01-09T12:01:26.488" v="33"/>
          <ac:spMkLst>
            <pc:docMk/>
            <pc:sldMk cId="97069583" sldId="264"/>
            <ac:spMk id="13" creationId="{D3D24C30-688D-F3FF-50F9-9B773EF16389}"/>
          </ac:spMkLst>
        </pc:spChg>
        <pc:spChg chg="add mod">
          <ac:chgData name="HARI KUMAR" userId="ab1248f8c6e089ea" providerId="LiveId" clId="{4B7B753E-125D-450C-A87E-5D2EB0374D18}" dt="2026-01-09T12:01:26.488" v="33"/>
          <ac:spMkLst>
            <pc:docMk/>
            <pc:sldMk cId="97069583" sldId="264"/>
            <ac:spMk id="14" creationId="{4E0FE745-C3CC-0EBD-4264-5A7AA0DC75D2}"/>
          </ac:spMkLst>
        </pc:spChg>
        <pc:cxnChg chg="add mod">
          <ac:chgData name="HARI KUMAR" userId="ab1248f8c6e089ea" providerId="LiveId" clId="{4B7B753E-125D-450C-A87E-5D2EB0374D18}" dt="2026-01-09T12:01:26.488" v="33"/>
          <ac:cxnSpMkLst>
            <pc:docMk/>
            <pc:sldMk cId="97069583" sldId="264"/>
            <ac:cxnSpMk id="6" creationId="{C463BC6D-3BC3-1F17-767B-DCD814F404A3}"/>
          </ac:cxnSpMkLst>
        </pc:cxnChg>
        <pc:cxnChg chg="add mod">
          <ac:chgData name="HARI KUMAR" userId="ab1248f8c6e089ea" providerId="LiveId" clId="{4B7B753E-125D-450C-A87E-5D2EB0374D18}" dt="2026-01-09T12:01:26.488" v="33"/>
          <ac:cxnSpMkLst>
            <pc:docMk/>
            <pc:sldMk cId="97069583" sldId="264"/>
            <ac:cxnSpMk id="8" creationId="{EF2FA8C1-6CCE-C0C9-B83D-F1FB375F3040}"/>
          </ac:cxnSpMkLst>
        </pc:cxnChg>
      </pc:sldChg>
      <pc:sldChg chg="addSp modSp new mod">
        <pc:chgData name="HARI KUMAR" userId="ab1248f8c6e089ea" providerId="LiveId" clId="{4B7B753E-125D-450C-A87E-5D2EB0374D18}" dt="2026-01-09T12:11:57.195" v="104" actId="1076"/>
        <pc:sldMkLst>
          <pc:docMk/>
          <pc:sldMk cId="2066787705" sldId="265"/>
        </pc:sldMkLst>
        <pc:spChg chg="add mod">
          <ac:chgData name="HARI KUMAR" userId="ab1248f8c6e089ea" providerId="LiveId" clId="{4B7B753E-125D-450C-A87E-5D2EB0374D18}" dt="2026-01-09T12:11:50.266" v="103" actId="14100"/>
          <ac:spMkLst>
            <pc:docMk/>
            <pc:sldMk cId="2066787705" sldId="265"/>
            <ac:spMk id="2" creationId="{2E7800A3-3582-17A3-E37D-6170B4BC0408}"/>
          </ac:spMkLst>
        </pc:spChg>
        <pc:spChg chg="add mod">
          <ac:chgData name="HARI KUMAR" userId="ab1248f8c6e089ea" providerId="LiveId" clId="{4B7B753E-125D-450C-A87E-5D2EB0374D18}" dt="2026-01-09T12:11:57.195" v="104" actId="1076"/>
          <ac:spMkLst>
            <pc:docMk/>
            <pc:sldMk cId="2066787705" sldId="265"/>
            <ac:spMk id="3" creationId="{FBD6FD40-87E3-0A15-5A10-5B2C1C915C8B}"/>
          </ac:spMkLst>
        </pc:spChg>
      </pc:sldChg>
      <pc:sldChg chg="addSp modSp new mod">
        <pc:chgData name="HARI KUMAR" userId="ab1248f8c6e089ea" providerId="LiveId" clId="{4B7B753E-125D-450C-A87E-5D2EB0374D18}" dt="2026-01-12T12:05:06.697" v="155" actId="1076"/>
        <pc:sldMkLst>
          <pc:docMk/>
          <pc:sldMk cId="1226390173" sldId="266"/>
        </pc:sldMkLst>
        <pc:spChg chg="add mod">
          <ac:chgData name="HARI KUMAR" userId="ab1248f8c6e089ea" providerId="LiveId" clId="{4B7B753E-125D-450C-A87E-5D2EB0374D18}" dt="2026-01-12T12:05:06.697" v="155" actId="1076"/>
          <ac:spMkLst>
            <pc:docMk/>
            <pc:sldMk cId="1226390173" sldId="266"/>
            <ac:spMk id="3" creationId="{F0DAE55E-032A-E299-7FA5-21D1AE34E07B}"/>
          </ac:spMkLst>
        </pc:spChg>
      </pc:sldChg>
      <pc:sldChg chg="addSp modSp add mod">
        <pc:chgData name="HARI KUMAR" userId="ab1248f8c6e089ea" providerId="LiveId" clId="{4B7B753E-125D-450C-A87E-5D2EB0374D18}" dt="2026-01-12T11:57:10.438" v="132" actId="113"/>
        <pc:sldMkLst>
          <pc:docMk/>
          <pc:sldMk cId="567537817" sldId="267"/>
        </pc:sldMkLst>
        <pc:spChg chg="add mod">
          <ac:chgData name="HARI KUMAR" userId="ab1248f8c6e089ea" providerId="LiveId" clId="{4B7B753E-125D-450C-A87E-5D2EB0374D18}" dt="2026-01-12T11:55:31.628" v="118" actId="1076"/>
          <ac:spMkLst>
            <pc:docMk/>
            <pc:sldMk cId="567537817" sldId="267"/>
            <ac:spMk id="2" creationId="{E98C73AF-3A47-1172-D0F8-58486F3AED24}"/>
          </ac:spMkLst>
        </pc:spChg>
        <pc:spChg chg="add mod">
          <ac:chgData name="HARI KUMAR" userId="ab1248f8c6e089ea" providerId="LiveId" clId="{4B7B753E-125D-450C-A87E-5D2EB0374D18}" dt="2026-01-12T11:57:10.438" v="132" actId="113"/>
          <ac:spMkLst>
            <pc:docMk/>
            <pc:sldMk cId="567537817" sldId="267"/>
            <ac:spMk id="3" creationId="{74FCBDB7-64D4-D0D3-9F0B-66A0032CD545}"/>
          </ac:spMkLst>
        </pc:spChg>
      </pc:sldChg>
      <pc:sldChg chg="addSp modSp add mod">
        <pc:chgData name="HARI KUMAR" userId="ab1248f8c6e089ea" providerId="LiveId" clId="{4B7B753E-125D-450C-A87E-5D2EB0374D18}" dt="2026-01-12T12:04:28.441" v="152" actId="20577"/>
        <pc:sldMkLst>
          <pc:docMk/>
          <pc:sldMk cId="2552509652" sldId="268"/>
        </pc:sldMkLst>
        <pc:spChg chg="add mod">
          <ac:chgData name="HARI KUMAR" userId="ab1248f8c6e089ea" providerId="LiveId" clId="{4B7B753E-125D-450C-A87E-5D2EB0374D18}" dt="2026-01-12T11:57:01.610" v="131" actId="113"/>
          <ac:spMkLst>
            <pc:docMk/>
            <pc:sldMk cId="2552509652" sldId="268"/>
            <ac:spMk id="3" creationId="{0566E6BB-E745-C69A-A718-8638E8F6FC6B}"/>
          </ac:spMkLst>
        </pc:spChg>
        <pc:spChg chg="add mod">
          <ac:chgData name="HARI KUMAR" userId="ab1248f8c6e089ea" providerId="LiveId" clId="{4B7B753E-125D-450C-A87E-5D2EB0374D18}" dt="2026-01-12T12:04:28.441" v="152" actId="20577"/>
          <ac:spMkLst>
            <pc:docMk/>
            <pc:sldMk cId="2552509652" sldId="268"/>
            <ac:spMk id="4" creationId="{32304A2B-5CCF-8D75-267B-DACDCB4024C9}"/>
          </ac:spMkLst>
        </pc:spChg>
      </pc:sldChg>
      <pc:sldChg chg="add del">
        <pc:chgData name="HARI KUMAR" userId="ab1248f8c6e089ea" providerId="LiveId" clId="{4B7B753E-125D-450C-A87E-5D2EB0374D18}" dt="2026-01-12T12:05:19.730" v="156" actId="2696"/>
        <pc:sldMkLst>
          <pc:docMk/>
          <pc:sldMk cId="472128674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FEEE10-33FA-450C-B94D-FD0A54514DDD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FB2C7A-C441-4FF3-A25F-6359CBCB6D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843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34A29-7BBE-4EE1-B8E3-1263150691D7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9B6222DB-F2AE-4A60-A46B-525905EB8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526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34A29-7BBE-4EE1-B8E3-1263150691D7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22DB-F2AE-4A60-A46B-525905EB8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343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88B34A29-7BBE-4EE1-B8E3-1263150691D7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B6222DB-F2AE-4A60-A46B-525905EB8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499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34A29-7BBE-4EE1-B8E3-1263150691D7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22DB-F2AE-4A60-A46B-525905EB8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202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34A29-7BBE-4EE1-B8E3-1263150691D7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22DB-F2AE-4A60-A46B-525905EB8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014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34A29-7BBE-4EE1-B8E3-1263150691D7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22DB-F2AE-4A60-A46B-525905EB8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660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34A29-7BBE-4EE1-B8E3-1263150691D7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22DB-F2AE-4A60-A46B-525905EB8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99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34A29-7BBE-4EE1-B8E3-1263150691D7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22DB-F2AE-4A60-A46B-525905EB8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05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34A29-7BBE-4EE1-B8E3-1263150691D7}" type="datetimeFigureOut">
              <a:rPr lang="en-IN" smtClean="0"/>
              <a:t>12-01-2026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22DB-F2AE-4A60-A46B-525905EB8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767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34A29-7BBE-4EE1-B8E3-1263150691D7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22DB-F2AE-4A60-A46B-525905EB8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062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34A29-7BBE-4EE1-B8E3-1263150691D7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222DB-F2AE-4A60-A46B-525905EB8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9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8B34A29-7BBE-4EE1-B8E3-1263150691D7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9B6222DB-F2AE-4A60-A46B-525905EB8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249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7DAA6-99BC-7E4D-4B8E-F15DA0D0E1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SOC alert monitoring and log correlation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b="1" dirty="0">
                <a:latin typeface="Calibri" panose="020F0502020204030204" pitchFamily="34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B6B245-AC0A-CA89-56FE-B7A31DDB11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/>
              <a:t>By </a:t>
            </a:r>
            <a:r>
              <a:rPr lang="en-IN" dirty="0" err="1"/>
              <a:t>Harikumar.E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9162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61D2A3-1BD4-65A7-9029-E571FB141D24}"/>
              </a:ext>
            </a:extLst>
          </p:cNvPr>
          <p:cNvSpPr txBox="1"/>
          <p:nvPr/>
        </p:nvSpPr>
        <p:spPr>
          <a:xfrm>
            <a:off x="640080" y="294394"/>
            <a:ext cx="3054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Agenda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B6FD39-A098-1C11-209A-1ADB18056004}"/>
              </a:ext>
            </a:extLst>
          </p:cNvPr>
          <p:cNvSpPr txBox="1"/>
          <p:nvPr/>
        </p:nvSpPr>
        <p:spPr>
          <a:xfrm>
            <a:off x="640080" y="1216152"/>
            <a:ext cx="636422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SOC and SIEM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Log Collection and Alert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Log Correlation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Incident Investigation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Impact Analysis and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Conclusion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8234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F599AE-E8CE-0EDE-1311-22C7AB3362D5}"/>
              </a:ext>
            </a:extLst>
          </p:cNvPr>
          <p:cNvSpPr txBox="1"/>
          <p:nvPr/>
        </p:nvSpPr>
        <p:spPr>
          <a:xfrm>
            <a:off x="1764792" y="347472"/>
            <a:ext cx="8439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Abstract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9141FF-76D4-9899-B51B-2CF5E26ADEF7}"/>
              </a:ext>
            </a:extLst>
          </p:cNvPr>
          <p:cNvSpPr txBox="1"/>
          <p:nvPr/>
        </p:nvSpPr>
        <p:spPr>
          <a:xfrm>
            <a:off x="1444752" y="1581912"/>
            <a:ext cx="907999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project demonstrates the process of monitoring security alerts and correlating logs using a SIEM platform in a simulated SOC environment. Logs from authentication, network, and endpoint sources are collected and analyzed to detect suspicious activities. Correlation rules are applied to identify potential security incidents, and a step-by-step investigation workflow is followed to triage alerts and assess their impact. The project highlights the importance of log correlation in reducing false positives and improving threat detection</a:t>
            </a:r>
            <a:br>
              <a:rPr lang="en-IN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53738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62895-5B5B-91A4-7258-7F0B146EE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3DCF04-204C-AEAA-14FD-6FA5FB310B13}"/>
              </a:ext>
            </a:extLst>
          </p:cNvPr>
          <p:cNvSpPr txBox="1"/>
          <p:nvPr/>
        </p:nvSpPr>
        <p:spPr>
          <a:xfrm>
            <a:off x="1508760" y="429768"/>
            <a:ext cx="85222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/>
              <a:t>Reconnaissance </a:t>
            </a:r>
          </a:p>
          <a:p>
            <a:pPr algn="ctr"/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56EE73-7E58-16E9-D115-8A00AF1A6151}"/>
              </a:ext>
            </a:extLst>
          </p:cNvPr>
          <p:cNvSpPr txBox="1"/>
          <p:nvPr/>
        </p:nvSpPr>
        <p:spPr>
          <a:xfrm>
            <a:off x="2100072" y="1618488"/>
            <a:ext cx="799185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Detected abnormal probing activity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Correlated web and firewall logs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Generated medium-severity alert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Early threat identification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2425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DC09F-304A-6779-3E13-DD2280DA3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04AF77F-BB20-92A6-1BA2-0CDE262CE1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603" y="3708458"/>
            <a:ext cx="6736079" cy="31304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01A6A1-A7BF-A5C1-8416-FBEE4B119D80}"/>
              </a:ext>
            </a:extLst>
          </p:cNvPr>
          <p:cNvSpPr txBox="1"/>
          <p:nvPr/>
        </p:nvSpPr>
        <p:spPr>
          <a:xfrm>
            <a:off x="198120" y="135458"/>
            <a:ext cx="33284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highlight>
                  <a:srgbClr val="FFFF00"/>
                </a:highlight>
              </a:rPr>
              <a:t>What is soc</a:t>
            </a:r>
          </a:p>
          <a:p>
            <a:endParaRPr lang="en-IN" sz="2800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7F9EAB-D840-1880-3EDD-10CF4980FEA8}"/>
              </a:ext>
            </a:extLst>
          </p:cNvPr>
          <p:cNvSpPr txBox="1"/>
          <p:nvPr/>
        </p:nvSpPr>
        <p:spPr>
          <a:xfrm>
            <a:off x="398603" y="797178"/>
            <a:ext cx="892454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dirty="0"/>
              <a:t>A Security Operations Center (SOC) is a centralized team or facility where cybersecurity professionals monitor, detect, investigate, and respond to security incidents in an organization 24/7.</a:t>
            </a:r>
          </a:p>
          <a:p>
            <a:pPr lvl="1"/>
            <a:endParaRPr lang="en-US" sz="2000" dirty="0"/>
          </a:p>
          <a:p>
            <a:pPr lvl="1"/>
            <a:endParaRPr lang="en-IN" sz="2000" dirty="0"/>
          </a:p>
          <a:p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C3B361-594A-CCC7-A99A-EC46748D6A73}"/>
              </a:ext>
            </a:extLst>
          </p:cNvPr>
          <p:cNvSpPr txBox="1"/>
          <p:nvPr/>
        </p:nvSpPr>
        <p:spPr>
          <a:xfrm>
            <a:off x="-2766776" y="1991208"/>
            <a:ext cx="8924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highlight>
                  <a:srgbClr val="FFFF00"/>
                </a:highlight>
              </a:rPr>
              <a:t>What SOC Does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23EF2C-BE5A-6E88-A11A-95DF2E5D80D8}"/>
              </a:ext>
            </a:extLst>
          </p:cNvPr>
          <p:cNvSpPr txBox="1"/>
          <p:nvPr/>
        </p:nvSpPr>
        <p:spPr>
          <a:xfrm>
            <a:off x="669875" y="2432072"/>
            <a:ext cx="83820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/>
              <a:t>Monitors security alerts from SIEM tools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Investigates suspicious activities and cyber attacks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Responds to incidents like malware, phishing, or intrusions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Improves security by tuning alerts and reducing false positives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7564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88EAB-B4C3-4DBD-FEA0-E5A14943D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890A89-4265-66DB-F310-E89F2FE7FDE3}"/>
              </a:ext>
            </a:extLst>
          </p:cNvPr>
          <p:cNvSpPr txBox="1"/>
          <p:nvPr/>
        </p:nvSpPr>
        <p:spPr>
          <a:xfrm>
            <a:off x="721360" y="243840"/>
            <a:ext cx="6268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highlight>
                  <a:srgbClr val="FFFF00"/>
                </a:highlight>
              </a:rPr>
              <a:t>SOC Alert Monitoring Log Correlation </a:t>
            </a:r>
          </a:p>
          <a:p>
            <a:endParaRPr lang="en-IN" sz="2400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75D19D-E102-9923-F86C-4F0CE875154A}"/>
              </a:ext>
            </a:extLst>
          </p:cNvPr>
          <p:cNvSpPr txBox="1"/>
          <p:nvPr/>
        </p:nvSpPr>
        <p:spPr>
          <a:xfrm>
            <a:off x="579120" y="1534160"/>
            <a:ext cx="7823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SOC Alert Monitoring is the process of continuously observing, analyzing, and responding to security alerts generated by security tools like SIEM, firewalls, IDS/IPS, and endpoint protection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SOC analysts review alerts to identify real security incidents, filter false positives, and take appropriate action to protect the organization.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Instead of looking at logs one by one, log correlation connects events together to understand the full attack story.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50445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9B64-D5AD-9ECF-F871-E733A2E3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5A2AA-9DA7-B0B8-FB73-5FAB4FE9E5FD}"/>
              </a:ext>
            </a:extLst>
          </p:cNvPr>
          <p:cNvSpPr txBox="1">
            <a:spLocks/>
          </p:cNvSpPr>
          <p:nvPr/>
        </p:nvSpPr>
        <p:spPr>
          <a:xfrm>
            <a:off x="678883" y="258227"/>
            <a:ext cx="10834234" cy="31073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fontAlgn="ctr"/>
            <a:r>
              <a:rPr lang="en-IN" sz="4000" dirty="0"/>
              <a:t>Popular SIEM Tools</a:t>
            </a:r>
          </a:p>
        </p:txBody>
      </p:sp>
      <p:graphicFrame>
        <p:nvGraphicFramePr>
          <p:cNvPr id="3" name="Content Placeholder 18">
            <a:extLst>
              <a:ext uri="{FF2B5EF4-FFF2-40B4-BE49-F238E27FC236}">
                <a16:creationId xmlns:a16="http://schemas.microsoft.com/office/drawing/2014/main" id="{C2AE77FE-5BA0-4607-E692-91183A9A24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341546"/>
              </p:ext>
            </p:extLst>
          </p:nvPr>
        </p:nvGraphicFramePr>
        <p:xfrm>
          <a:off x="468776" y="987061"/>
          <a:ext cx="10534503" cy="4981254"/>
        </p:xfrm>
        <a:graphic>
          <a:graphicData uri="http://schemas.openxmlformats.org/drawingml/2006/table">
            <a:tbl>
              <a:tblPr/>
              <a:tblGrid>
                <a:gridCol w="3511501">
                  <a:extLst>
                    <a:ext uri="{9D8B030D-6E8A-4147-A177-3AD203B41FA5}">
                      <a16:colId xmlns:a16="http://schemas.microsoft.com/office/drawing/2014/main" val="794200864"/>
                    </a:ext>
                  </a:extLst>
                </a:gridCol>
                <a:gridCol w="3511501">
                  <a:extLst>
                    <a:ext uri="{9D8B030D-6E8A-4147-A177-3AD203B41FA5}">
                      <a16:colId xmlns:a16="http://schemas.microsoft.com/office/drawing/2014/main" val="2874251909"/>
                    </a:ext>
                  </a:extLst>
                </a:gridCol>
                <a:gridCol w="3511501">
                  <a:extLst>
                    <a:ext uri="{9D8B030D-6E8A-4147-A177-3AD203B41FA5}">
                      <a16:colId xmlns:a16="http://schemas.microsoft.com/office/drawing/2014/main" val="205219652"/>
                    </a:ext>
                  </a:extLst>
                </a:gridCol>
              </a:tblGrid>
              <a:tr h="484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highlight>
                            <a:srgbClr val="FFFF00"/>
                          </a:highlight>
                        </a:rPr>
                        <a:t>Tool</a:t>
                      </a:r>
                    </a:p>
                  </a:txBody>
                  <a:tcPr marL="41941" marR="41941" marT="20971" marB="20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highlight>
                            <a:srgbClr val="FFFF00"/>
                          </a:highlight>
                        </a:rPr>
                        <a:t>Type</a:t>
                      </a:r>
                    </a:p>
                  </a:txBody>
                  <a:tcPr marL="41941" marR="41941" marT="20971" marB="20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highlight>
                            <a:srgbClr val="FFFF00"/>
                          </a:highlight>
                        </a:rPr>
                        <a:t>Usage / Key Feature</a:t>
                      </a:r>
                    </a:p>
                  </a:txBody>
                  <a:tcPr marL="41941" marR="41941" marT="20971" marB="20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987655"/>
                  </a:ext>
                </a:extLst>
              </a:tr>
              <a:tr h="847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Splunk</a:t>
                      </a:r>
                      <a:endParaRPr lang="en-IN" sz="2000" dirty="0"/>
                    </a:p>
                  </a:txBody>
                  <a:tcPr marL="41941" marR="41941" marT="20971" marB="20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SIEM / Log Analysis</a:t>
                      </a:r>
                    </a:p>
                  </a:txBody>
                  <a:tcPr marL="41941" marR="41941" marT="20971" marB="20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Real-time monitoring, dashboards, alerts</a:t>
                      </a:r>
                    </a:p>
                  </a:txBody>
                  <a:tcPr marL="41941" marR="41941" marT="20971" marB="20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0957368"/>
                  </a:ext>
                </a:extLst>
              </a:tr>
              <a:tr h="484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ELK Stack</a:t>
                      </a:r>
                      <a:endParaRPr lang="en-IN" sz="2000"/>
                    </a:p>
                  </a:txBody>
                  <a:tcPr marL="41941" marR="41941" marT="20971" marB="20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Open-source SIEM</a:t>
                      </a:r>
                    </a:p>
                  </a:txBody>
                  <a:tcPr marL="41941" marR="41941" marT="20971" marB="20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Log collection, visualization, search</a:t>
                      </a:r>
                    </a:p>
                  </a:txBody>
                  <a:tcPr marL="41941" marR="41941" marT="20971" marB="20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3530007"/>
                  </a:ext>
                </a:extLst>
              </a:tr>
              <a:tr h="484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Wazuh</a:t>
                      </a:r>
                      <a:endParaRPr lang="en-IN" sz="2000"/>
                    </a:p>
                  </a:txBody>
                  <a:tcPr marL="41941" marR="41941" marT="20971" marB="20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Open-source SIEM &amp; HIDS</a:t>
                      </a:r>
                    </a:p>
                  </a:txBody>
                  <a:tcPr marL="41941" marR="41941" marT="20971" marB="20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Endpoint security and alerting</a:t>
                      </a:r>
                    </a:p>
                  </a:txBody>
                  <a:tcPr marL="41941" marR="41941" marT="20971" marB="20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94161"/>
                  </a:ext>
                </a:extLst>
              </a:tr>
              <a:tr h="847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Graylog</a:t>
                      </a:r>
                      <a:endParaRPr lang="en-IN" sz="2000"/>
                    </a:p>
                  </a:txBody>
                  <a:tcPr marL="41941" marR="41941" marT="20971" marB="20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SIEM / Log Management</a:t>
                      </a:r>
                    </a:p>
                  </a:txBody>
                  <a:tcPr marL="41941" marR="41941" marT="20971" marB="20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Centralized log management and dashboards</a:t>
                      </a:r>
                    </a:p>
                  </a:txBody>
                  <a:tcPr marL="41941" marR="41941" marT="20971" marB="20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740289"/>
                  </a:ext>
                </a:extLst>
              </a:tr>
              <a:tr h="847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ArcSight</a:t>
                      </a:r>
                      <a:endParaRPr lang="en-IN" sz="2000"/>
                    </a:p>
                  </a:txBody>
                  <a:tcPr marL="41941" marR="41941" marT="20971" marB="20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Enterprise SIEM</a:t>
                      </a:r>
                    </a:p>
                  </a:txBody>
                  <a:tcPr marL="41941" marR="41941" marT="20971" marB="20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Advanced correlation and compliance reporting</a:t>
                      </a:r>
                    </a:p>
                  </a:txBody>
                  <a:tcPr marL="41941" marR="41941" marT="20971" marB="20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4622192"/>
                  </a:ext>
                </a:extLst>
              </a:tr>
              <a:tr h="484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IBM </a:t>
                      </a:r>
                      <a:r>
                        <a:rPr lang="en-IN" sz="2000" b="1" dirty="0" err="1"/>
                        <a:t>QRadar</a:t>
                      </a:r>
                      <a:endParaRPr lang="en-IN" sz="2000" dirty="0"/>
                    </a:p>
                  </a:txBody>
                  <a:tcPr marL="41941" marR="41941" marT="20971" marB="20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Enterprise SIEM</a:t>
                      </a:r>
                    </a:p>
                  </a:txBody>
                  <a:tcPr marL="41941" marR="41941" marT="20971" marB="20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Threat detection, incident analysis</a:t>
                      </a:r>
                    </a:p>
                  </a:txBody>
                  <a:tcPr marL="41941" marR="41941" marT="20971" marB="20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757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67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15CFB-AA17-F655-C9EA-78D6ADFE6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B22544-63FF-F4B3-5084-2181C9869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842" y="1255483"/>
            <a:ext cx="6533187" cy="489989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6798593-0C5A-DADC-4ED6-E7679EBA9E40}"/>
              </a:ext>
            </a:extLst>
          </p:cNvPr>
          <p:cNvSpPr txBox="1">
            <a:spLocks/>
          </p:cNvSpPr>
          <p:nvPr/>
        </p:nvSpPr>
        <p:spPr>
          <a:xfrm>
            <a:off x="678883" y="151655"/>
            <a:ext cx="10834234" cy="612775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/>
              <a:t>Log Correlation Using SIEM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21419A-25AD-8EDA-75C8-79367BC79E71}"/>
              </a:ext>
            </a:extLst>
          </p:cNvPr>
          <p:cNvSpPr txBox="1">
            <a:spLocks/>
          </p:cNvSpPr>
          <p:nvPr/>
        </p:nvSpPr>
        <p:spPr>
          <a:xfrm>
            <a:off x="405476" y="2933471"/>
            <a:ext cx="5832756" cy="350981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Log Collection:</a:t>
            </a:r>
            <a:r>
              <a:rPr lang="en-IN" dirty="0"/>
              <a:t> From servers, firewalls, endpoints</a:t>
            </a:r>
          </a:p>
          <a:p>
            <a:r>
              <a:rPr lang="en-IN" b="1" dirty="0"/>
              <a:t>Normalization &amp; Storage:</a:t>
            </a:r>
            <a:r>
              <a:rPr lang="en-IN" dirty="0"/>
              <a:t> SIEM stores logs in a common format</a:t>
            </a:r>
          </a:p>
          <a:p>
            <a:r>
              <a:rPr lang="en-IN" b="1" dirty="0"/>
              <a:t>Alert Monitoring:</a:t>
            </a:r>
            <a:r>
              <a:rPr lang="en-IN" dirty="0"/>
              <a:t> Detect suspicious events using rules</a:t>
            </a:r>
          </a:p>
          <a:p>
            <a:r>
              <a:rPr lang="en-IN" b="1" dirty="0"/>
              <a:t>Log Correlation:</a:t>
            </a:r>
            <a:r>
              <a:rPr lang="en-IN" dirty="0"/>
              <a:t> Combine related events across sources</a:t>
            </a:r>
          </a:p>
          <a:p>
            <a:r>
              <a:rPr lang="en-IN" b="1" dirty="0"/>
              <a:t>Alert Generation:</a:t>
            </a:r>
            <a:r>
              <a:rPr lang="en-IN" dirty="0"/>
              <a:t> High, medium, low severity alerts</a:t>
            </a:r>
          </a:p>
          <a:p>
            <a:r>
              <a:rPr lang="en-IN" b="1" dirty="0"/>
              <a:t>SOC Investigation:</a:t>
            </a:r>
            <a:r>
              <a:rPr lang="en-IN" dirty="0"/>
              <a:t> </a:t>
            </a:r>
            <a:r>
              <a:rPr lang="en-IN" dirty="0" err="1"/>
              <a:t>Analyze</a:t>
            </a:r>
            <a:r>
              <a:rPr lang="en-IN" dirty="0"/>
              <a:t> alerts, validate incidents</a:t>
            </a:r>
          </a:p>
          <a:p>
            <a:r>
              <a:rPr lang="en-IN" b="1" dirty="0"/>
              <a:t>Response &amp; Mitigation:</a:t>
            </a:r>
            <a:r>
              <a:rPr lang="en-IN" dirty="0"/>
              <a:t> Block IPs, disable accounts, escalate incidents</a:t>
            </a:r>
          </a:p>
          <a:p>
            <a:pPr marL="0" indent="0">
              <a:buFont typeface="Wingdings" pitchFamily="2" charset="2"/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2C6089-3E17-72CF-8665-866F643331E7}"/>
              </a:ext>
            </a:extLst>
          </p:cNvPr>
          <p:cNvSpPr txBox="1"/>
          <p:nvPr/>
        </p:nvSpPr>
        <p:spPr>
          <a:xfrm>
            <a:off x="313112" y="2564139"/>
            <a:ext cx="5498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How Alert Monitoring &amp; Log Correlation Works</a:t>
            </a:r>
            <a:endParaRPr lang="en-IN" b="1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A40DE7-7F14-B199-CBAF-7598306E36FF}"/>
              </a:ext>
            </a:extLst>
          </p:cNvPr>
          <p:cNvSpPr txBox="1"/>
          <p:nvPr/>
        </p:nvSpPr>
        <p:spPr>
          <a:xfrm>
            <a:off x="488606" y="688092"/>
            <a:ext cx="6068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What is SIEM (Security Information and Event Management)?</a:t>
            </a:r>
          </a:p>
          <a:p>
            <a:endParaRPr lang="en-US" b="1" dirty="0">
              <a:highlight>
                <a:srgbClr val="FFFF00"/>
              </a:highlight>
            </a:endParaRPr>
          </a:p>
          <a:p>
            <a:r>
              <a:rPr lang="en-US" dirty="0"/>
              <a:t>SIEM is a security platform that collects, analyzes, and correlates logs from multiple sources to detect and respond to cybersecurity threats.</a:t>
            </a:r>
          </a:p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2E99B18-AC28-065C-9D10-4E4FB2E52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612150"/>
              </p:ext>
            </p:extLst>
          </p:nvPr>
        </p:nvGraphicFramePr>
        <p:xfrm>
          <a:off x="7203440" y="1113906"/>
          <a:ext cx="4655127" cy="7960561"/>
        </p:xfrm>
        <a:graphic>
          <a:graphicData uri="http://schemas.openxmlformats.org/drawingml/2006/table">
            <a:tbl>
              <a:tblPr/>
              <a:tblGrid>
                <a:gridCol w="1551709">
                  <a:extLst>
                    <a:ext uri="{9D8B030D-6E8A-4147-A177-3AD203B41FA5}">
                      <a16:colId xmlns:a16="http://schemas.microsoft.com/office/drawing/2014/main" val="2011089760"/>
                    </a:ext>
                  </a:extLst>
                </a:gridCol>
                <a:gridCol w="1551709">
                  <a:extLst>
                    <a:ext uri="{9D8B030D-6E8A-4147-A177-3AD203B41FA5}">
                      <a16:colId xmlns:a16="http://schemas.microsoft.com/office/drawing/2014/main" val="1280692992"/>
                    </a:ext>
                  </a:extLst>
                </a:gridCol>
                <a:gridCol w="1551709">
                  <a:extLst>
                    <a:ext uri="{9D8B030D-6E8A-4147-A177-3AD203B41FA5}">
                      <a16:colId xmlns:a16="http://schemas.microsoft.com/office/drawing/2014/main" val="3618506984"/>
                    </a:ext>
                  </a:extLst>
                </a:gridCol>
              </a:tblGrid>
              <a:tr h="63322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743798"/>
                  </a:ext>
                </a:extLst>
              </a:tr>
              <a:tr h="117599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541925"/>
                  </a:ext>
                </a:extLst>
              </a:tr>
              <a:tr h="117599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938436"/>
                  </a:ext>
                </a:extLst>
              </a:tr>
              <a:tr h="90460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782244"/>
                  </a:ext>
                </a:extLst>
              </a:tr>
              <a:tr h="14473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37326"/>
                  </a:ext>
                </a:extLst>
              </a:tr>
              <a:tr h="14473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4953812"/>
                  </a:ext>
                </a:extLst>
              </a:tr>
              <a:tr h="117599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3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3000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409B2-C9A4-2B40-280C-63F0B1348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B3AD64-D289-F8FD-67D3-299D92F07888}"/>
              </a:ext>
            </a:extLst>
          </p:cNvPr>
          <p:cNvSpPr txBox="1"/>
          <p:nvPr/>
        </p:nvSpPr>
        <p:spPr>
          <a:xfrm>
            <a:off x="494701" y="628615"/>
            <a:ext cx="747073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SIEM Setup</a:t>
            </a:r>
            <a:br>
              <a:rPr lang="en-US" altLang="en-US" dirty="0"/>
            </a:br>
            <a:r>
              <a:rPr lang="en-US" altLang="en-US" dirty="0"/>
              <a:t>A SIEM tool (Splunk / ELK / </a:t>
            </a:r>
            <a:r>
              <a:rPr lang="en-US" altLang="en-US" dirty="0" err="1"/>
              <a:t>Wazuh</a:t>
            </a:r>
            <a:r>
              <a:rPr lang="en-US" altLang="en-US" dirty="0"/>
              <a:t>) is configured to collect logs from different systems and display alerts through dashboards.</a:t>
            </a:r>
          </a:p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b="1" dirty="0"/>
          </a:p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Log Collection</a:t>
            </a:r>
            <a:br>
              <a:rPr lang="en-US" altLang="en-US" dirty="0"/>
            </a:br>
            <a:r>
              <a:rPr lang="en-US" altLang="en-US" dirty="0"/>
              <a:t>Logs are collected from multiple sources such as authentication systems, network devices, and endpoints to ensure complete visibility.</a:t>
            </a:r>
          </a:p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/>
          </a:p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Alert Monitoring</a:t>
            </a:r>
            <a:br>
              <a:rPr lang="en-US" altLang="en-US" dirty="0"/>
            </a:br>
            <a:r>
              <a:rPr lang="en-US" altLang="en-US" dirty="0"/>
              <a:t>The SIEM continuously monitors incoming logs and generates alerts based on predefined security rules and thresholds.</a:t>
            </a:r>
          </a:p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/>
          </a:p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Log Correlation</a:t>
            </a:r>
            <a:br>
              <a:rPr lang="en-US" altLang="en-US" dirty="0"/>
            </a:br>
            <a:r>
              <a:rPr lang="en-US" altLang="en-US" dirty="0"/>
              <a:t>Related events from different log sources are correlated to identify suspicious patterns that indicate potential attacks.</a:t>
            </a:r>
          </a:p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b="1" dirty="0"/>
          </a:p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Investigation &amp; Response</a:t>
            </a:r>
            <a:br>
              <a:rPr lang="en-US" altLang="en-US" dirty="0"/>
            </a:br>
            <a:r>
              <a:rPr lang="en-US" altLang="en-US" dirty="0"/>
              <a:t>SOC analysts analyze alerts, validate incidents, take corrective actions, and document findings.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60E494-4F8C-EACD-CA8E-DEAB09B1AB42}"/>
              </a:ext>
            </a:extLst>
          </p:cNvPr>
          <p:cNvSpPr txBox="1"/>
          <p:nvPr/>
        </p:nvSpPr>
        <p:spPr>
          <a:xfrm>
            <a:off x="-2801603" y="89242"/>
            <a:ext cx="9993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highlight>
                  <a:srgbClr val="FFFF00"/>
                </a:highlight>
              </a:rPr>
              <a:t>PROCESS</a:t>
            </a:r>
            <a:r>
              <a:rPr lang="en-IN" sz="2400" b="1" dirty="0">
                <a:highlight>
                  <a:srgbClr val="FFFF00"/>
                </a:highlight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871871-7E81-3E75-14D5-62787658A564}"/>
              </a:ext>
            </a:extLst>
          </p:cNvPr>
          <p:cNvCxnSpPr>
            <a:cxnSpLocks/>
          </p:cNvCxnSpPr>
          <p:nvPr/>
        </p:nvCxnSpPr>
        <p:spPr>
          <a:xfrm>
            <a:off x="7607431" y="677400"/>
            <a:ext cx="0" cy="54028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157A250-F643-7A87-55A6-ECFB6A171302}"/>
              </a:ext>
            </a:extLst>
          </p:cNvPr>
          <p:cNvSpPr txBox="1"/>
          <p:nvPr/>
        </p:nvSpPr>
        <p:spPr>
          <a:xfrm>
            <a:off x="7805395" y="1130688"/>
            <a:ext cx="40723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dirty="0"/>
              <a:t> </a:t>
            </a:r>
          </a:p>
          <a:p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dirty="0"/>
              <a:t> 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463BC6D-3BC3-1F17-767B-DCD814F404A3}"/>
              </a:ext>
            </a:extLst>
          </p:cNvPr>
          <p:cNvCxnSpPr>
            <a:cxnSpLocks/>
          </p:cNvCxnSpPr>
          <p:nvPr/>
        </p:nvCxnSpPr>
        <p:spPr>
          <a:xfrm>
            <a:off x="9144000" y="1204386"/>
            <a:ext cx="0" cy="311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F69FA22-9E38-8D30-9329-CF67CF0B6A4E}"/>
              </a:ext>
            </a:extLst>
          </p:cNvPr>
          <p:cNvCxnSpPr>
            <a:cxnSpLocks/>
          </p:cNvCxnSpPr>
          <p:nvPr/>
        </p:nvCxnSpPr>
        <p:spPr>
          <a:xfrm>
            <a:off x="9153427" y="2403501"/>
            <a:ext cx="0" cy="311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F2FA8C1-6CCE-C0C9-B83D-F1FB375F3040}"/>
              </a:ext>
            </a:extLst>
          </p:cNvPr>
          <p:cNvCxnSpPr>
            <a:cxnSpLocks/>
          </p:cNvCxnSpPr>
          <p:nvPr/>
        </p:nvCxnSpPr>
        <p:spPr>
          <a:xfrm>
            <a:off x="9143999" y="3476512"/>
            <a:ext cx="0" cy="311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CAAD85B5-52CE-F371-2ECE-56867A2E0A39}"/>
              </a:ext>
            </a:extLst>
          </p:cNvPr>
          <p:cNvSpPr/>
          <p:nvPr/>
        </p:nvSpPr>
        <p:spPr>
          <a:xfrm>
            <a:off x="8125457" y="628615"/>
            <a:ext cx="2375550" cy="471341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Log Collection</a:t>
            </a:r>
          </a:p>
          <a:p>
            <a:pPr algn="ctr"/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4353BBC-BA06-58C7-E679-121D88191E24}"/>
              </a:ext>
            </a:extLst>
          </p:cNvPr>
          <p:cNvCxnSpPr>
            <a:cxnSpLocks/>
          </p:cNvCxnSpPr>
          <p:nvPr/>
        </p:nvCxnSpPr>
        <p:spPr>
          <a:xfrm>
            <a:off x="9235348" y="4523968"/>
            <a:ext cx="0" cy="311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Flowchart: Terminator 10">
            <a:extLst>
              <a:ext uri="{FF2B5EF4-FFF2-40B4-BE49-F238E27FC236}">
                <a16:creationId xmlns:a16="http://schemas.microsoft.com/office/drawing/2014/main" id="{3F965AD6-AC27-ECE5-B9AA-0E76C8A70B45}"/>
              </a:ext>
            </a:extLst>
          </p:cNvPr>
          <p:cNvSpPr/>
          <p:nvPr/>
        </p:nvSpPr>
        <p:spPr>
          <a:xfrm>
            <a:off x="8125457" y="1663494"/>
            <a:ext cx="2376000" cy="4716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Alert Monitoring</a:t>
            </a:r>
          </a:p>
          <a:p>
            <a:pPr algn="ctr"/>
            <a:endParaRPr lang="en-IN" dirty="0"/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83B01F01-E27B-6BCD-256D-09D6AA47FEB2}"/>
              </a:ext>
            </a:extLst>
          </p:cNvPr>
          <p:cNvSpPr/>
          <p:nvPr/>
        </p:nvSpPr>
        <p:spPr>
          <a:xfrm>
            <a:off x="8125457" y="2861780"/>
            <a:ext cx="2376000" cy="4716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Log Correlation </a:t>
            </a:r>
          </a:p>
          <a:p>
            <a:pPr algn="ctr"/>
            <a:endParaRPr lang="en-IN" dirty="0"/>
          </a:p>
        </p:txBody>
      </p:sp>
      <p:sp>
        <p:nvSpPr>
          <p:cNvPr id="13" name="Flowchart: Terminator 12">
            <a:extLst>
              <a:ext uri="{FF2B5EF4-FFF2-40B4-BE49-F238E27FC236}">
                <a16:creationId xmlns:a16="http://schemas.microsoft.com/office/drawing/2014/main" id="{D3D24C30-688D-F3FF-50F9-9B773EF16389}"/>
              </a:ext>
            </a:extLst>
          </p:cNvPr>
          <p:cNvSpPr/>
          <p:nvPr/>
        </p:nvSpPr>
        <p:spPr>
          <a:xfrm>
            <a:off x="8047348" y="3933702"/>
            <a:ext cx="2376000" cy="4716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Investigation</a:t>
            </a:r>
          </a:p>
        </p:txBody>
      </p:sp>
      <p:sp>
        <p:nvSpPr>
          <p:cNvPr id="14" name="Flowchart: Terminator 13">
            <a:extLst>
              <a:ext uri="{FF2B5EF4-FFF2-40B4-BE49-F238E27FC236}">
                <a16:creationId xmlns:a16="http://schemas.microsoft.com/office/drawing/2014/main" id="{4E0FE745-C3CC-0EBD-4264-5A7AA0DC75D2}"/>
              </a:ext>
            </a:extLst>
          </p:cNvPr>
          <p:cNvSpPr/>
          <p:nvPr/>
        </p:nvSpPr>
        <p:spPr>
          <a:xfrm>
            <a:off x="8125457" y="4916903"/>
            <a:ext cx="2376000" cy="4716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97069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7800A3-3582-17A3-E37D-6170B4BC0408}"/>
              </a:ext>
            </a:extLst>
          </p:cNvPr>
          <p:cNvSpPr txBox="1"/>
          <p:nvPr/>
        </p:nvSpPr>
        <p:spPr>
          <a:xfrm>
            <a:off x="518160" y="1229518"/>
            <a:ext cx="1143369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Effectiveness of Alert Monitoring</a:t>
            </a:r>
            <a:br>
              <a:rPr lang="en-US" altLang="en-US" sz="2000" dirty="0"/>
            </a:br>
            <a:r>
              <a:rPr lang="en-US" altLang="en-US" sz="2000" dirty="0"/>
              <a:t>Alert monitoring helps in early detection of suspicious activities and reduces response time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Impact</a:t>
            </a:r>
            <a:r>
              <a:rPr lang="en-US" altLang="en-US" sz="2000" b="1" dirty="0">
                <a:latin typeface="Arial" panose="020B0604020202020204" pitchFamily="34" charset="0"/>
              </a:rPr>
              <a:t> </a:t>
            </a:r>
            <a:r>
              <a:rPr lang="en-US" altLang="en-US" sz="2000" b="1" dirty="0"/>
              <a:t>of Log Correlation</a:t>
            </a:r>
            <a:br>
              <a:rPr lang="en-US" altLang="en-US" sz="2000" dirty="0"/>
            </a:br>
            <a:r>
              <a:rPr lang="en-US" altLang="en-US" sz="2000" dirty="0"/>
              <a:t>Correlating multiple logs provides better attack visibility compared to analyzing single events.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Security &amp; Business Impact</a:t>
            </a:r>
            <a:br>
              <a:rPr lang="en-US" altLang="en-US" sz="2000" dirty="0"/>
            </a:br>
            <a:r>
              <a:rPr lang="en-US" altLang="en-US" sz="2000" dirty="0"/>
              <a:t>The project improves security posture, reduces risk of data breaches, and minimizes downtime.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Challenges Observed</a:t>
            </a:r>
            <a:br>
              <a:rPr lang="en-US" altLang="en-US" sz="2000" dirty="0"/>
            </a:br>
            <a:r>
              <a:rPr lang="en-US" altLang="en-US" sz="2000" dirty="0"/>
              <a:t>High log volume and false positives require continuous tuning of correlation rules.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Improvements &amp; Recommendations</a:t>
            </a:r>
            <a:br>
              <a:rPr lang="en-US" altLang="en-US" sz="2000" dirty="0"/>
            </a:br>
            <a:r>
              <a:rPr lang="en-US" altLang="en-US" sz="2000" dirty="0"/>
              <a:t>Alert tuning, enhanced log sources, and automation can further improve SOC efficiency.</a:t>
            </a:r>
          </a:p>
          <a:p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6FD40-87E3-0A15-5A10-5B2C1C915C8B}"/>
              </a:ext>
            </a:extLst>
          </p:cNvPr>
          <p:cNvSpPr txBox="1"/>
          <p:nvPr/>
        </p:nvSpPr>
        <p:spPr>
          <a:xfrm>
            <a:off x="1665316" y="228183"/>
            <a:ext cx="53570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highlight>
                  <a:srgbClr val="FFFF00"/>
                </a:highlight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2066787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63A51-C4BD-2856-2516-2BEFCBDA8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8C73AF-3A47-1172-D0F8-58486F3AED24}"/>
              </a:ext>
            </a:extLst>
          </p:cNvPr>
          <p:cNvSpPr txBox="1"/>
          <p:nvPr/>
        </p:nvSpPr>
        <p:spPr>
          <a:xfrm>
            <a:off x="1826583" y="177051"/>
            <a:ext cx="8538833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Blocking Malicious IP Addresses</a:t>
            </a: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Add IPs to firewall or SIEM blocklists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Disabling Compromised User Accounts</a:t>
            </a: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Lock or reset affected accounts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Isolating Affected Systems</a:t>
            </a: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Disconnect infected endpoints from the network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Removing Malicious Files or Processes</a:t>
            </a: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Delete malware, stop suspicious services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Applying Security Patches</a:t>
            </a: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Fix vulnerabilities used in the attack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Updating SIEM Rules</a:t>
            </a: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Improve correlation rules to prevent repeat attacks</a:t>
            </a:r>
          </a:p>
          <a:p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FCBDB7-64D4-D0D3-9F0B-66A0032CD545}"/>
              </a:ext>
            </a:extLst>
          </p:cNvPr>
          <p:cNvSpPr txBox="1"/>
          <p:nvPr/>
        </p:nvSpPr>
        <p:spPr>
          <a:xfrm>
            <a:off x="4070096" y="177051"/>
            <a:ext cx="284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highlight>
                  <a:srgbClr val="FFFF00"/>
                </a:highlight>
              </a:rPr>
              <a:t>Mitigation</a:t>
            </a:r>
          </a:p>
        </p:txBody>
      </p:sp>
    </p:spTree>
    <p:extLst>
      <p:ext uri="{BB962C8B-B14F-4D97-AF65-F5344CB8AC3E}">
        <p14:creationId xmlns:p14="http://schemas.microsoft.com/office/powerpoint/2010/main" val="567537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7A6F1-87CD-CA50-4B38-C3FCD2E7B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66E6BB-E745-C69A-A718-8638E8F6FC6B}"/>
              </a:ext>
            </a:extLst>
          </p:cNvPr>
          <p:cNvSpPr txBox="1"/>
          <p:nvPr/>
        </p:nvSpPr>
        <p:spPr>
          <a:xfrm>
            <a:off x="2781300" y="6916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304A2B-5CCF-8D75-267B-DACDCB4024C9}"/>
              </a:ext>
            </a:extLst>
          </p:cNvPr>
          <p:cNvSpPr txBox="1"/>
          <p:nvPr/>
        </p:nvSpPr>
        <p:spPr>
          <a:xfrm>
            <a:off x="1409700" y="2133600"/>
            <a:ext cx="9410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project shows how log correlation works and  improve threat detection , response. Centralized logging and correlation enable SOC analysts to identify attacks early and reduce security risks.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52509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DAE55E-032A-E299-7FA5-21D1AE34E07B}"/>
              </a:ext>
            </a:extLst>
          </p:cNvPr>
          <p:cNvSpPr txBox="1"/>
          <p:nvPr/>
        </p:nvSpPr>
        <p:spPr>
          <a:xfrm>
            <a:off x="2334006" y="2366510"/>
            <a:ext cx="609447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800" b="1" dirty="0">
                <a:latin typeface="Calibri" panose="020F0502020204030204" pitchFamily="34" charset="0"/>
              </a:rPr>
              <a:t>Thank You!</a:t>
            </a:r>
            <a:endParaRPr lang="en-IN" sz="8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3901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1437</TotalTime>
  <Words>780</Words>
  <Application>Microsoft Office PowerPoint</Application>
  <PresentationFormat>Widescreen</PresentationFormat>
  <Paragraphs>134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Rockwell</vt:lpstr>
      <vt:lpstr>Rockwell Condensed</vt:lpstr>
      <vt:lpstr>Wingdings</vt:lpstr>
      <vt:lpstr>Wood Type</vt:lpstr>
      <vt:lpstr>    SOC alert monitoring and log correlation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 KUMAR</dc:creator>
  <cp:lastModifiedBy>HARI KUMAR</cp:lastModifiedBy>
  <cp:revision>1</cp:revision>
  <dcterms:created xsi:type="dcterms:W3CDTF">2026-01-08T12:25:51Z</dcterms:created>
  <dcterms:modified xsi:type="dcterms:W3CDTF">2026-01-12T12:05:28Z</dcterms:modified>
</cp:coreProperties>
</file>